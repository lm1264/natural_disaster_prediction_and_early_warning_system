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92">
          <p15:clr>
            <a:srgbClr val="A4A3A4"/>
          </p15:clr>
        </p15:guide>
        <p15:guide id="2" pos="192">
          <p15:clr>
            <a:srgbClr val="A4A3A4"/>
          </p15:clr>
        </p15:guide>
        <p15:guide id="3" orient="horz" pos="1080">
          <p15:clr>
            <a:srgbClr val="A4A3A4"/>
          </p15:clr>
        </p15:guide>
      </p15:sldGuideLst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xmlns="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93" autoAdjust="0"/>
    <p:restoredTop sz="96301"/>
  </p:normalViewPr>
  <p:slideViewPr>
    <p:cSldViewPr snapToGrid="0">
      <p:cViewPr varScale="1">
        <p:scale>
          <a:sx n="78" d="100"/>
          <a:sy n="78" d="100"/>
        </p:scale>
        <p:origin x="840" y="72"/>
      </p:cViewPr>
      <p:guideLst>
        <p:guide orient="horz" pos="792"/>
        <p:guide pos="192"/>
        <p:guide orient="horz" pos="1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2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2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20" Type="http://customschemas.google.com/relationships/presentationmetadata" Target="metadata"/><Relationship Id="rId5" Type="http://schemas.openxmlformats.org/officeDocument/2006/relationships/slide" Target="slides/slide4.xml"/><Relationship Id="rId22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4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266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153E6A6-60E4-FE14-1CBC-8CC211274D1C}"/>
              </a:ext>
            </a:extLst>
          </p:cNvPr>
          <p:cNvSpPr/>
          <p:nvPr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CE881-772B-9023-3054-4B219B75D755}"/>
              </a:ext>
            </a:extLst>
          </p:cNvPr>
          <p:cNvSpPr/>
          <p:nvPr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16A7B69A-9B14-87FE-841D-37F0A91D141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16000"/>
          </a:blip>
          <a:srcRect t="24724" r="1619" b="63695"/>
          <a:stretch/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B91A16-5D54-2FC0-B0FD-A78085FC1313}"/>
              </a:ext>
            </a:extLst>
          </p:cNvPr>
          <p:cNvSpPr/>
          <p:nvPr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701" r:id="rId2"/>
    <p:sldLayoutId id="2147483714" r:id="rId3"/>
    <p:sldLayoutId id="214748372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freepik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07B8740D-C76F-46FC-AEFB-23FB0614D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857762-AD52-483C-B3E1-635C5BBC6F2F}"/>
              </a:ext>
            </a:extLst>
          </p:cNvPr>
          <p:cNvSpPr/>
          <p:nvPr/>
        </p:nvSpPr>
        <p:spPr>
          <a:xfrm>
            <a:off x="6390752" y="584200"/>
            <a:ext cx="4156598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067E9C-C7B9-4476-9708-CBB3F66FD892}"/>
              </a:ext>
            </a:extLst>
          </p:cNvPr>
          <p:cNvSpPr txBox="1"/>
          <p:nvPr/>
        </p:nvSpPr>
        <p:spPr>
          <a:xfrm>
            <a:off x="4151586" y="3429000"/>
            <a:ext cx="68708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Name of Project </a:t>
            </a:r>
            <a:r>
              <a:rPr lang="en-IN" sz="36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BD3530AF-9771-470E-A9BF-F28AA22753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7419" y="868863"/>
            <a:ext cx="1263157" cy="4108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A952CF-1D01-EB0D-6F81-33DD90D9369D}"/>
              </a:ext>
            </a:extLst>
          </p:cNvPr>
          <p:cNvSpPr txBox="1"/>
          <p:nvPr/>
        </p:nvSpPr>
        <p:spPr>
          <a:xfrm>
            <a:off x="5073445" y="4075331"/>
            <a:ext cx="6174658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🌍 Natural Disaster Prediction &amp; Early Warning System</a:t>
            </a:r>
          </a:p>
        </p:txBody>
      </p:sp>
    </p:spTree>
    <p:extLst>
      <p:ext uri="{BB962C8B-B14F-4D97-AF65-F5344CB8AC3E}">
        <p14:creationId xmlns:p14="http://schemas.microsoft.com/office/powerpoint/2010/main" val="367127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94E319-C77C-49E2-964C-6E125D716194}"/>
              </a:ext>
            </a:extLst>
          </p:cNvPr>
          <p:cNvSpPr txBox="1"/>
          <p:nvPr/>
        </p:nvSpPr>
        <p:spPr>
          <a:xfrm>
            <a:off x="191911" y="972537"/>
            <a:ext cx="2652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Learning Objectives</a:t>
            </a:r>
            <a:endParaRPr lang="en-IN" sz="2000" dirty="0">
              <a:solidFill>
                <a:srgbClr val="21316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1F3497-5370-4874-9908-5AD45214E10B}"/>
              </a:ext>
            </a:extLst>
          </p:cNvPr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b="1" dirty="0">
                <a:latin typeface="+mn-lt"/>
              </a:rPr>
              <a:t>Source 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E830DD-8813-42EB-B27B-B7D85423D0C7}"/>
              </a:ext>
            </a:extLst>
          </p:cNvPr>
          <p:cNvSpPr txBox="1"/>
          <p:nvPr/>
        </p:nvSpPr>
        <p:spPr>
          <a:xfrm>
            <a:off x="880529" y="6135329"/>
            <a:ext cx="1842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dirty="0">
                <a:solidFill>
                  <a:srgbClr val="0000FF"/>
                </a:solidFill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www.freepik.com/</a:t>
            </a:r>
            <a:endParaRPr lang="en-IN" sz="1200" dirty="0">
              <a:solidFill>
                <a:srgbClr val="0000FF"/>
              </a:solidFill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22F707-7F22-48A3-97EC-98EFB1023A55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adder leading to a large yellow circle&#10;&#10;Description automatically generated">
            <a:extLst>
              <a:ext uri="{FF2B5EF4-FFF2-40B4-BE49-F238E27FC236}">
                <a16:creationId xmlns:a16="http://schemas.microsoft.com/office/drawing/2014/main" id="{E2920B14-B344-4926-9729-BC7EBD91FF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5000"/>
          </a:blip>
          <a:srcRect l="13763" t="6135" r="13650"/>
          <a:stretch/>
        </p:blipFill>
        <p:spPr>
          <a:xfrm>
            <a:off x="7345680" y="1442720"/>
            <a:ext cx="4500880" cy="46329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264928-EACB-4739-BDDA-6799C99356F3}"/>
              </a:ext>
            </a:extLst>
          </p:cNvPr>
          <p:cNvSpPr txBox="1"/>
          <p:nvPr/>
        </p:nvSpPr>
        <p:spPr>
          <a:xfrm>
            <a:off x="8839200" y="3168609"/>
            <a:ext cx="150368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3500" b="1" dirty="0">
                <a:solidFill>
                  <a:schemeClr val="tx1"/>
                </a:solidFill>
                <a:latin typeface="+mn-lt"/>
              </a:rPr>
              <a:t>GOAL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E44BAE-138F-952E-D464-E00810EF2ACE}"/>
              </a:ext>
            </a:extLst>
          </p:cNvPr>
          <p:cNvSpPr txBox="1"/>
          <p:nvPr/>
        </p:nvSpPr>
        <p:spPr>
          <a:xfrm>
            <a:off x="191911" y="1912629"/>
            <a:ext cx="3061223" cy="3827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 To analyze earthquake dataset (NEIC, Kaggle)</a:t>
            </a:r>
          </a:p>
          <a:p>
            <a:r>
              <a:rPr lang="en-US" dirty="0"/>
              <a:t>- To apply Machine Learning models for earthquake magnitude prediction</a:t>
            </a:r>
          </a:p>
          <a:p>
            <a:r>
              <a:rPr lang="en-US" dirty="0"/>
              <a:t>- To evaluate models using regression metrics (MSE, MAE, RMSE, R²)</a:t>
            </a:r>
          </a:p>
          <a:p>
            <a:r>
              <a:rPr lang="en-US" dirty="0"/>
              <a:t>- To build an Early Warning prediction pipeline</a:t>
            </a:r>
          </a:p>
          <a:p>
            <a:r>
              <a:rPr lang="en-US" dirty="0"/>
              <a:t>- To demonstrate deployment using </a:t>
            </a:r>
            <a:r>
              <a:rPr lang="en-US" dirty="0" err="1"/>
              <a:t>Streamlit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76B089-B128-8B3A-93D2-346B03890B9D}"/>
              </a:ext>
            </a:extLst>
          </p:cNvPr>
          <p:cNvSpPr txBox="1"/>
          <p:nvPr/>
        </p:nvSpPr>
        <p:spPr>
          <a:xfrm>
            <a:off x="3606472" y="2630936"/>
            <a:ext cx="3161071" cy="2390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 dirty="0"/>
              <a:t>GOAL</a:t>
            </a:r>
          </a:p>
          <a:p>
            <a:endParaRPr lang="en-US" dirty="0"/>
          </a:p>
          <a:p>
            <a:r>
              <a:rPr lang="en-US" dirty="0"/>
              <a:t>To develop an AI/ML-based system that predicts earthquake magnitudes using historical seismic data and provides insights for disaster preparedness.</a:t>
            </a:r>
          </a:p>
        </p:txBody>
      </p:sp>
    </p:spTree>
    <p:extLst>
      <p:ext uri="{BB962C8B-B14F-4D97-AF65-F5344CB8AC3E}">
        <p14:creationId xmlns:p14="http://schemas.microsoft.com/office/powerpoint/2010/main" val="2932052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35834" y="1067664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213163"/>
                </a:solidFill>
              </a:rPr>
              <a:t>T</a:t>
            </a:r>
            <a:r>
              <a:rPr lang="en-IN" sz="2000" b="1" dirty="0" err="1">
                <a:solidFill>
                  <a:srgbClr val="213163"/>
                </a:solidFill>
              </a:rPr>
              <a:t>ools</a:t>
            </a:r>
            <a:r>
              <a:rPr lang="en-IN" sz="2000" b="1" dirty="0">
                <a:solidFill>
                  <a:srgbClr val="213163"/>
                </a:solidFill>
              </a:rPr>
              <a:t> and Technology used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9C1AB5-0811-ACC5-083A-2A7C806B3FE5}"/>
              </a:ext>
            </a:extLst>
          </p:cNvPr>
          <p:cNvSpPr txBox="1"/>
          <p:nvPr/>
        </p:nvSpPr>
        <p:spPr>
          <a:xfrm>
            <a:off x="287595" y="1467774"/>
            <a:ext cx="5188974" cy="4689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Programming Language</a:t>
            </a:r>
            <a:r>
              <a:rPr lang="en-IN" dirty="0"/>
              <a:t>: Python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Libraries</a:t>
            </a:r>
            <a:r>
              <a:rPr lang="en-IN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Pandas (data cleaning &amp; preprocessing)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NumPy (numerical computations)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Matplotlib &amp; Seaborn (data visualization)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Scikit-learn (ML models – Linear Regression, Random Forest, Gradient Boosting, model evaluation, </a:t>
            </a:r>
            <a:r>
              <a:rPr lang="en-IN" dirty="0" err="1"/>
              <a:t>GridSearchCV</a:t>
            </a:r>
            <a:r>
              <a:rPr lang="en-IN" dirty="0"/>
              <a:t>/</a:t>
            </a:r>
            <a:r>
              <a:rPr lang="en-IN" dirty="0" err="1"/>
              <a:t>RandomizedSearchCV</a:t>
            </a:r>
            <a:r>
              <a:rPr lang="en-IN" dirty="0"/>
              <a:t> for tuning)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Dataset Source</a:t>
            </a:r>
            <a:r>
              <a:rPr lang="en-IN" dirty="0"/>
              <a:t>: Kaggle (Earthquake dataset)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Environment</a:t>
            </a:r>
            <a:r>
              <a:rPr lang="en-IN" dirty="0"/>
              <a:t>: </a:t>
            </a:r>
            <a:r>
              <a:rPr lang="en-IN" dirty="0" err="1"/>
              <a:t>Jupyter</a:t>
            </a:r>
            <a:r>
              <a:rPr lang="en-IN" dirty="0"/>
              <a:t> Notebook / Google </a:t>
            </a:r>
            <a:r>
              <a:rPr lang="en-IN" dirty="0" err="1"/>
              <a:t>Colab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(For major project extension)</a:t>
            </a:r>
            <a:r>
              <a:rPr lang="en-IN" dirty="0"/>
              <a:t>: </a:t>
            </a:r>
            <a:r>
              <a:rPr lang="en-IN" dirty="0" err="1"/>
              <a:t>Streamlit</a:t>
            </a:r>
            <a:r>
              <a:rPr lang="en-IN" dirty="0"/>
              <a:t> (interactive dashboard deployment)</a:t>
            </a:r>
          </a:p>
        </p:txBody>
      </p:sp>
    </p:spTree>
    <p:extLst>
      <p:ext uri="{BB962C8B-B14F-4D97-AF65-F5344CB8AC3E}">
        <p14:creationId xmlns:p14="http://schemas.microsoft.com/office/powerpoint/2010/main" val="564571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68356" y="1014656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Methodology</a:t>
            </a:r>
            <a:r>
              <a:rPr lang="en-US" sz="1800" b="1" dirty="0">
                <a:solidFill>
                  <a:srgbClr val="213163"/>
                </a:solidFill>
              </a:rPr>
              <a:t>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1289D3-1B84-9B8C-A4AE-3CE5B02D6DCA}"/>
              </a:ext>
            </a:extLst>
          </p:cNvPr>
          <p:cNvSpPr txBox="1"/>
          <p:nvPr/>
        </p:nvSpPr>
        <p:spPr>
          <a:xfrm>
            <a:off x="270066" y="1802561"/>
            <a:ext cx="5560463" cy="3252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1. Data Collection from Kaggle (Earthquake dataset ≥ 5.5 magnitude)</a:t>
            </a:r>
          </a:p>
          <a:p>
            <a:r>
              <a:rPr lang="en-IN" dirty="0"/>
              <a:t>2. Data Preprocessing (handling missing values with imputation)</a:t>
            </a:r>
          </a:p>
          <a:p>
            <a:r>
              <a:rPr lang="en-IN" dirty="0"/>
              <a:t>3. Feature Selection (location, depth, magnitude, source)</a:t>
            </a:r>
          </a:p>
          <a:p>
            <a:r>
              <a:rPr lang="en-IN" dirty="0"/>
              <a:t>4. Model Selection (Linear Regression, Random Forest, Gradient Boosting)</a:t>
            </a:r>
          </a:p>
          <a:p>
            <a:r>
              <a:rPr lang="en-IN" dirty="0"/>
              <a:t>5. Model Training &amp; Evaluation using MSE, MAE, RMSE, R²</a:t>
            </a:r>
          </a:p>
          <a:p>
            <a:r>
              <a:rPr lang="en-IN" dirty="0"/>
              <a:t>6. Deployment of best model using </a:t>
            </a:r>
            <a:r>
              <a:rPr lang="en-IN" dirty="0" err="1"/>
              <a:t>Streamlit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6790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Problem Statement: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E92BF-FC00-9FA1-0A62-46E2E0DA2142}"/>
              </a:ext>
            </a:extLst>
          </p:cNvPr>
          <p:cNvSpPr txBox="1"/>
          <p:nvPr/>
        </p:nvSpPr>
        <p:spPr>
          <a:xfrm>
            <a:off x="-1" y="1737838"/>
            <a:ext cx="10903975" cy="95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Earthquakes are unpredictable natural disasters that cause severe destruction. There is a need for a data-driven system that can analyze historical seismic data and predict earthquake magnitude for early preparedness.</a:t>
            </a:r>
          </a:p>
        </p:txBody>
      </p:sp>
    </p:spTree>
    <p:extLst>
      <p:ext uri="{BB962C8B-B14F-4D97-AF65-F5344CB8AC3E}">
        <p14:creationId xmlns:p14="http://schemas.microsoft.com/office/powerpoint/2010/main" val="31965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Solution: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F99BBE-C5AB-ADFC-4F85-C10FCEEE4D55}"/>
              </a:ext>
            </a:extLst>
          </p:cNvPr>
          <p:cNvSpPr txBox="1"/>
          <p:nvPr/>
        </p:nvSpPr>
        <p:spPr>
          <a:xfrm>
            <a:off x="256814" y="1580522"/>
            <a:ext cx="6100916" cy="1528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system uses Machine Learning algorithms (Linear Regression, Random Forest, Gradient Boosting) to predict earthquake magnitudes. The </a:t>
            </a:r>
            <a:r>
              <a:rPr lang="en-US" dirty="0" err="1"/>
              <a:t>Streamlit</a:t>
            </a:r>
            <a:r>
              <a:rPr lang="en-US" dirty="0"/>
              <a:t> app allows users to upload datasets, view model performance, and select the best predictive model.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8309B9-AB6D-F9C6-1EA6-9B4BE27B5F02}"/>
              </a:ext>
            </a:extLst>
          </p:cNvPr>
          <p:cNvSpPr txBox="1"/>
          <p:nvPr/>
        </p:nvSpPr>
        <p:spPr>
          <a:xfrm>
            <a:off x="140110" y="4164770"/>
            <a:ext cx="6100916" cy="66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https://github.com/LM1264/Natural_Disaster_Prediction_And_Early_Warning_System.git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A26A82-67C3-C075-C150-006E0B84F1A5}"/>
              </a:ext>
            </a:extLst>
          </p:cNvPr>
          <p:cNvSpPr txBox="1"/>
          <p:nvPr/>
        </p:nvSpPr>
        <p:spPr>
          <a:xfrm>
            <a:off x="140110" y="3637936"/>
            <a:ext cx="2852063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GitHub </a:t>
            </a:r>
            <a:r>
              <a:rPr lang="en-US" b="1" dirty="0" err="1"/>
              <a:t>Repositry</a:t>
            </a:r>
            <a:r>
              <a:rPr lang="en-US" b="1" dirty="0"/>
              <a:t> Link :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002968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8EAFD6-5D27-3E40-587C-634B5DE7BD8B}"/>
              </a:ext>
            </a:extLst>
          </p:cNvPr>
          <p:cNvSpPr txBox="1"/>
          <p:nvPr/>
        </p:nvSpPr>
        <p:spPr>
          <a:xfrm>
            <a:off x="255104" y="1523715"/>
            <a:ext cx="6100916" cy="95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Screenshots include dataset preview, model performance comparison table, and </a:t>
            </a:r>
            <a:r>
              <a:rPr lang="en-US" dirty="0" err="1"/>
              <a:t>Streamlit</a:t>
            </a:r>
            <a:r>
              <a:rPr lang="en-US" dirty="0"/>
              <a:t> dashboard with R² chart.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A9D2F8-EB3D-E2FD-E238-9BCA579B6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04" y="2547208"/>
            <a:ext cx="7382905" cy="4214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949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49087" y="988151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Conclusion:</a:t>
            </a:r>
            <a:r>
              <a:rPr lang="en-US" sz="1800" b="1" dirty="0">
                <a:solidFill>
                  <a:srgbClr val="213163"/>
                </a:solidFill>
              </a:rPr>
              <a:t> 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5A594B-36DD-DC88-5C3E-61A5E9CE4E80}"/>
              </a:ext>
            </a:extLst>
          </p:cNvPr>
          <p:cNvSpPr txBox="1"/>
          <p:nvPr/>
        </p:nvSpPr>
        <p:spPr>
          <a:xfrm>
            <a:off x="150797" y="1388261"/>
            <a:ext cx="6100916" cy="2390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project successfully demonstrates the application of AI/ML in climate risk and disaster management. Among the Linear Regression model, ensemble methods like Random Forest Regressor and Gradient Boosting Regressor showed better predictive performance. The deployment using </a:t>
            </a:r>
            <a:r>
              <a:rPr lang="en-US" dirty="0" err="1"/>
              <a:t>Streamlit</a:t>
            </a:r>
            <a:r>
              <a:rPr lang="en-US" dirty="0"/>
              <a:t> enables an interactive way for real-time earthquake prediction and early warning system.</a:t>
            </a:r>
          </a:p>
        </p:txBody>
      </p:sp>
    </p:spTree>
    <p:extLst>
      <p:ext uri="{BB962C8B-B14F-4D97-AF65-F5344CB8AC3E}">
        <p14:creationId xmlns:p14="http://schemas.microsoft.com/office/powerpoint/2010/main" val="151988358"/>
      </p:ext>
    </p:extLst>
  </p:cSld>
  <p:clrMapOvr>
    <a:masterClrMapping/>
  </p:clrMapOvr>
</p:sld>
</file>

<file path=ppt/theme/theme1.xml><?xml version="1.0" encoding="utf-8"?>
<a:theme xmlns:a="http://schemas.openxmlformats.org/drawingml/2006/main" name="Session 01 Design Thinking &amp; Critical Think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ession 01 Design Thinking &amp; Critical Thinking" id="{1DE73F69-F87A-4ED3-81C1-82D2BA622E0C}" vid="{37568650-F724-47C7-905E-9640F80174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Session 01 Design Thinking &amp; Critical Thinking</Template>
  <TotalTime>29</TotalTime>
  <Words>432</Words>
  <Application>Microsoft Office PowerPoint</Application>
  <PresentationFormat>Widescreen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Session 01 Design Thinking &amp; Critical Thinking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Mahesh Kurhe</dc:creator>
  <cp:lastModifiedBy>Lakshay Malik</cp:lastModifiedBy>
  <cp:revision>5</cp:revision>
  <dcterms:created xsi:type="dcterms:W3CDTF">2024-12-31T09:40:01Z</dcterms:created>
  <dcterms:modified xsi:type="dcterms:W3CDTF">2025-09-14T17:29:14Z</dcterms:modified>
</cp:coreProperties>
</file>